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1" r:id="rId5"/>
    <p:sldId id="262" r:id="rId6"/>
    <p:sldId id="270" r:id="rId7"/>
    <p:sldId id="260" r:id="rId8"/>
    <p:sldId id="263" r:id="rId9"/>
    <p:sldId id="271" r:id="rId10"/>
    <p:sldId id="264" r:id="rId11"/>
    <p:sldId id="268" r:id="rId12"/>
    <p:sldId id="269" r:id="rId13"/>
    <p:sldId id="265" r:id="rId14"/>
    <p:sldId id="272" r:id="rId15"/>
    <p:sldId id="266" r:id="rId16"/>
    <p:sldId id="274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75" autoAdjust="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07DBDD6F-6880-4393-B818-A1AEE88921A6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32936B6-8CA1-463B-A689-281FA9C92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419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BDD6F-6880-4393-B818-A1AEE88921A6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36B6-8CA1-463B-A689-281FA9C92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75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BDD6F-6880-4393-B818-A1AEE88921A6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36B6-8CA1-463B-A689-281FA9C92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43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BDD6F-6880-4393-B818-A1AEE88921A6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36B6-8CA1-463B-A689-281FA9C92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97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BDD6F-6880-4393-B818-A1AEE88921A6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36B6-8CA1-463B-A689-281FA9C92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373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BDD6F-6880-4393-B818-A1AEE88921A6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36B6-8CA1-463B-A689-281FA9C92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711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BDD6F-6880-4393-B818-A1AEE88921A6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36B6-8CA1-463B-A689-281FA9C92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039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BDD6F-6880-4393-B818-A1AEE88921A6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32936B6-8CA1-463B-A689-281FA9C92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44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07DBDD6F-6880-4393-B818-A1AEE88921A6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32936B6-8CA1-463B-A689-281FA9C92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271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BDD6F-6880-4393-B818-A1AEE88921A6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36B6-8CA1-463B-A689-281FA9C92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697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BDD6F-6880-4393-B818-A1AEE88921A6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936B6-8CA1-463B-A689-281FA9C92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952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07DBDD6F-6880-4393-B818-A1AEE88921A6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32936B6-8CA1-463B-A689-281FA9C92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17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BF70A-8580-4AD0-97A6-FFAD0C4861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Методы борьбы с выбросами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BBA05B-3657-42CF-ACFC-AF98693048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Юсько Сергей</a:t>
            </a:r>
            <a:br>
              <a:rPr lang="ru-RU" dirty="0"/>
            </a:br>
            <a:r>
              <a:rPr lang="ru-RU" dirty="0"/>
              <a:t>ФИТ 223204</a:t>
            </a:r>
            <a:br>
              <a:rPr lang="ru-RU" dirty="0"/>
            </a:br>
            <a:r>
              <a:rPr lang="ru-RU" dirty="0"/>
              <a:t>ТПНС-1</a:t>
            </a:r>
          </a:p>
        </p:txBody>
      </p:sp>
    </p:spTree>
    <p:extLst>
      <p:ext uri="{BB962C8B-B14F-4D97-AF65-F5344CB8AC3E}">
        <p14:creationId xmlns:p14="http://schemas.microsoft.com/office/powerpoint/2010/main" val="2453011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70B3A-E9EA-4C92-B798-17A7E245E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выброс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9DA907-81F0-4B22-9C5F-A7BF4C230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5045414" cy="3766185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Выброс</a:t>
            </a:r>
            <a:r>
              <a:rPr lang="ru-RU" dirty="0"/>
              <a:t> (</a:t>
            </a:r>
            <a:r>
              <a:rPr lang="ru-RU" i="1" dirty="0" err="1"/>
              <a:t>outlier</a:t>
            </a:r>
            <a:r>
              <a:rPr lang="ru-RU" dirty="0"/>
              <a:t>) — это экстремальные значения во входных данных, которые находятся далеко за пределами других наблюдений.</a:t>
            </a:r>
          </a:p>
          <a:p>
            <a:r>
              <a:rPr lang="ru-RU" dirty="0"/>
              <a:t>Они могут возникать как следствие ошибок измерений или же представлять собой настоящие вариации в данных. </a:t>
            </a:r>
          </a:p>
          <a:p>
            <a:pPr marL="0" indent="0">
              <a:buNone/>
            </a:pPr>
            <a:r>
              <a:rPr lang="ru-RU" dirty="0"/>
              <a:t>Например, возраст опрашиваемых </a:t>
            </a:r>
            <a:r>
              <a:rPr lang="en-US" dirty="0"/>
              <a:t>(Age)</a:t>
            </a:r>
            <a:r>
              <a:rPr lang="ru-RU" dirty="0"/>
              <a:t> должен находиться в диапазоне от 27 до 40 лет, но мы имеем значения от 120  больше.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69C595-5E4D-458B-A256-91C84C512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857" y="1916759"/>
            <a:ext cx="4210638" cy="417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06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64945-8DA5-4387-B48C-FAA94061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выбросы влияют на алгоритмы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C410A8-3448-48AA-85B8-E2670FB12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Многие алгоритмы МО </a:t>
            </a:r>
            <a:r>
              <a:rPr lang="ru-RU" b="1" dirty="0"/>
              <a:t>чувствительны</a:t>
            </a:r>
            <a:r>
              <a:rPr lang="ru-RU" dirty="0"/>
              <a:t> к разбросу и распределению значений признаков обрабатываемых объектов. </a:t>
            </a:r>
          </a:p>
          <a:p>
            <a:r>
              <a:rPr lang="ru-RU" dirty="0"/>
              <a:t>Поэтому выбросы во входных данных могут </a:t>
            </a:r>
            <a:r>
              <a:rPr lang="ru-RU" i="1" dirty="0"/>
              <a:t>исказить процесс </a:t>
            </a:r>
            <a:r>
              <a:rPr lang="ru-RU" dirty="0"/>
              <a:t>обучения алгоритмов МО, что приводит к увеличению времени обучения, снижению точности моделей и, в конечном итоге, к снижению результатов. </a:t>
            </a:r>
          </a:p>
        </p:txBody>
      </p:sp>
    </p:spTree>
    <p:extLst>
      <p:ext uri="{BB962C8B-B14F-4D97-AF65-F5344CB8AC3E}">
        <p14:creationId xmlns:p14="http://schemas.microsoft.com/office/powerpoint/2010/main" val="275756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3FD3B-DB99-4D26-9269-7D06CFDB3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виды выбросов бывают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E9DC95-8F88-4C70-8D97-A6ADE87F3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4960573" cy="3766185"/>
          </a:xfrm>
        </p:spPr>
        <p:txBody>
          <a:bodyPr/>
          <a:lstStyle/>
          <a:p>
            <a:r>
              <a:rPr lang="ru-RU" dirty="0"/>
              <a:t>На основе </a:t>
            </a:r>
            <a:r>
              <a:rPr lang="ru-RU" b="1" dirty="0"/>
              <a:t>размерности: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Одномерные выбросы</a:t>
            </a:r>
          </a:p>
          <a:p>
            <a:r>
              <a:rPr lang="ru-RU" dirty="0"/>
              <a:t>Точка является выбросом только по одной из своих координат.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Многомерные выбросы</a:t>
            </a:r>
          </a:p>
          <a:p>
            <a:r>
              <a:rPr lang="ru-RU" dirty="0"/>
              <a:t>Точка является выбросом сразу по нескольким координатам.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D03C86-77E6-47E7-998D-36D289375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502" y="2011680"/>
            <a:ext cx="3982006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70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3FD3B-DB99-4D26-9269-7D06CFDB3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виды выбросов бывают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E9DC95-8F88-4C70-8D97-A6ADE87F3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654363" cy="4596510"/>
          </a:xfrm>
        </p:spPr>
        <p:txBody>
          <a:bodyPr>
            <a:normAutofit/>
          </a:bodyPr>
          <a:lstStyle/>
          <a:p>
            <a:r>
              <a:rPr lang="ru-RU" dirty="0"/>
              <a:t>На основе </a:t>
            </a:r>
            <a:r>
              <a:rPr lang="ru-RU" b="1" dirty="0"/>
              <a:t>окружения: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b="1" dirty="0"/>
              <a:t>Точечные выбросы</a:t>
            </a:r>
            <a:br>
              <a:rPr lang="ru-RU" dirty="0"/>
            </a:br>
            <a:r>
              <a:rPr lang="ru-RU" dirty="0"/>
              <a:t>Единичные точки, выбивающиеся из общей картины.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 Контекстуальные выбросы</a:t>
            </a:r>
            <a:br>
              <a:rPr lang="ru-RU" dirty="0"/>
            </a:br>
            <a:r>
              <a:rPr lang="ru-RU" dirty="0"/>
              <a:t>Чтобы определить, является ли точка выбросом необходим контекст. Например, в Петербурге +15 градусов Цельсия. Зимой такая температура – выброс, летом нет.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b="1" dirty="0"/>
              <a:t>Коллективные выбросы</a:t>
            </a:r>
            <a:br>
              <a:rPr lang="ru-RU" dirty="0"/>
            </a:br>
            <a:r>
              <a:rPr lang="ru-RU" dirty="0"/>
              <a:t>Здесь выбросом является группа точек. Пример: задержки поставок на фабрике. Одна задержка не является выбросом. Если их много, значит это может стать проблемой.</a:t>
            </a:r>
          </a:p>
        </p:txBody>
      </p:sp>
    </p:spTree>
    <p:extLst>
      <p:ext uri="{BB962C8B-B14F-4D97-AF65-F5344CB8AC3E}">
        <p14:creationId xmlns:p14="http://schemas.microsoft.com/office/powerpoint/2010/main" val="251603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AD2F7-20B5-4A93-906E-1BB053D67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Визуальные методы для выявления и удаления выбросов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3E5CD1-DE9F-403F-871C-72D48B919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2360472"/>
            <a:ext cx="7651865" cy="3766185"/>
          </a:xfrm>
        </p:spPr>
        <p:txBody>
          <a:bodyPr>
            <a:normAutofit/>
          </a:bodyPr>
          <a:lstStyle/>
          <a:p>
            <a:r>
              <a:rPr lang="ru-RU" sz="3600" b="1" dirty="0"/>
              <a:t>Визуализация данных </a:t>
            </a:r>
            <a:r>
              <a:rPr lang="ru-RU" sz="3600" dirty="0"/>
              <a:t>— мощный инструмент для обнаружения выбросов, особенно на начальных этапах анализа. </a:t>
            </a:r>
          </a:p>
        </p:txBody>
      </p:sp>
    </p:spTree>
    <p:extLst>
      <p:ext uri="{BB962C8B-B14F-4D97-AF65-F5344CB8AC3E}">
        <p14:creationId xmlns:p14="http://schemas.microsoft.com/office/powerpoint/2010/main" val="3861006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EB224-FCD0-4062-9CAA-C954DEC3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Визуальные методы для выявления и удаления выбросов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1C139-CC9E-485E-9393-F151467DF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157731"/>
            <a:ext cx="3772795" cy="4587083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Экстремальный анализ данных: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i="1" dirty="0"/>
              <a:t>Визуализировать</a:t>
            </a:r>
            <a:r>
              <a:rPr lang="ru-RU" dirty="0"/>
              <a:t> данные, используя диаграммы и гистограммы;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i="1" dirty="0"/>
              <a:t>Задействовать распределение </a:t>
            </a:r>
            <a:r>
              <a:rPr lang="ru-RU" dirty="0"/>
              <a:t>и найти значения, чье ст. отклонение отличается в 2-3 раза от мат. ожидания или в полтора раза от 1-й либо 3-й квартилей;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ru-RU" i="1" dirty="0"/>
              <a:t>Отфильтровать </a:t>
            </a:r>
            <a:r>
              <a:rPr lang="ru-RU" dirty="0"/>
              <a:t>предполагаемые выбросы из обучающей выборки и оценить работу модели.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EC6308-6E53-443B-8A80-400B4552D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728" y="2308744"/>
            <a:ext cx="7062565" cy="331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53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EB224-FCD0-4062-9CAA-C954DEC3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Визуальные методы для выявления и удаления выбросов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1C139-CC9E-485E-9393-F151467DF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157731"/>
            <a:ext cx="3772795" cy="4587083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Аппроксимирующий метод: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Использовать </a:t>
            </a:r>
            <a:r>
              <a:rPr lang="ru-RU" i="1" dirty="0"/>
              <a:t>метод кластеризации </a:t>
            </a:r>
            <a:r>
              <a:rPr lang="ru-RU" dirty="0"/>
              <a:t>для определения кластеров в данных;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Идентифицировать и отметить </a:t>
            </a:r>
            <a:r>
              <a:rPr lang="ru-RU" dirty="0" err="1"/>
              <a:t>центроиды</a:t>
            </a:r>
            <a:r>
              <a:rPr lang="ru-RU" dirty="0"/>
              <a:t> каждого кластера;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Соотнести кластеры с экземплярами данных, находящимися на фиксированном расстоянии или на процентном удалении от </a:t>
            </a:r>
            <a:r>
              <a:rPr lang="ru-RU" dirty="0" err="1"/>
              <a:t>центроида</a:t>
            </a:r>
            <a:r>
              <a:rPr lang="ru-RU" dirty="0"/>
              <a:t> соответствующего кластера.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9FDA25-0EA1-412D-A1FA-482331DFB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625" y="2280279"/>
            <a:ext cx="5165566" cy="274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88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C21657-C30A-4110-AD52-288A31D06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Визуальные методы для выявления и удаления выбросов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FF76B4-A9C3-45A3-9505-D39A36BCC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269" y="2444436"/>
            <a:ext cx="5097802" cy="3914031"/>
          </a:xfrm>
        </p:spPr>
        <p:txBody>
          <a:bodyPr/>
          <a:lstStyle/>
          <a:p>
            <a:r>
              <a:rPr lang="ru-RU" b="1" dirty="0"/>
              <a:t>Тепловые карты и контурные графики</a:t>
            </a:r>
          </a:p>
          <a:p>
            <a:r>
              <a:rPr lang="ru-RU" dirty="0"/>
              <a:t>Для больших наборов данных тепловые карты и контурные графики помогают визуализировать плотность распределения и выявлять аномалии как области с необычно низкой плотностью.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12A5A95-FF7C-4E65-8165-7A69C3F54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383" y="1907388"/>
            <a:ext cx="4960068" cy="445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408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EB224-FCD0-4062-9CAA-C954DEC3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методы для выявления и удаления выбросов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1C139-CC9E-485E-9393-F151467DF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2157731"/>
            <a:ext cx="7600656" cy="4587083"/>
          </a:xfrm>
        </p:spPr>
        <p:txBody>
          <a:bodyPr>
            <a:normAutofit/>
          </a:bodyPr>
          <a:lstStyle/>
          <a:p>
            <a:r>
              <a:rPr lang="ru-RU" sz="4000" b="1" dirty="0"/>
              <a:t>Статистические методы </a:t>
            </a:r>
            <a:r>
              <a:rPr lang="ru-RU" sz="4000" dirty="0"/>
              <a:t>обнаружения выбросов основаны на предположении о распределении данных и определении пороговых значений для выявления аномалий.</a:t>
            </a:r>
          </a:p>
        </p:txBody>
      </p:sp>
    </p:spTree>
    <p:extLst>
      <p:ext uri="{BB962C8B-B14F-4D97-AF65-F5344CB8AC3E}">
        <p14:creationId xmlns:p14="http://schemas.microsoft.com/office/powerpoint/2010/main" val="2798163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EB224-FCD0-4062-9CAA-C954DEC3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методы для выявления и удаления выбросов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1C139-CC9E-485E-9393-F151467DF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157732"/>
            <a:ext cx="10466405" cy="7174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 Z-оценка </a:t>
            </a:r>
            <a:r>
              <a:rPr lang="ru-RU" dirty="0"/>
              <a:t>измеряет, насколько отдельное наблюдение отклоняется от среднего значения выборки в единицах стандартного отклонения.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C98743-18AC-4AC3-85BE-E348185D0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45" y="3357212"/>
            <a:ext cx="7271539" cy="21857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6151A3-5888-4BE9-8F9D-D5D6CAA1D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711" y="3316842"/>
            <a:ext cx="3295199" cy="276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117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EB224-FCD0-4062-9CAA-C954DEC3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методы для выявления и удаления выбросов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1C139-CC9E-485E-9393-F151467DF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157732"/>
            <a:ext cx="10532392" cy="4365616"/>
          </a:xfrm>
        </p:spPr>
        <p:txBody>
          <a:bodyPr>
            <a:normAutofit/>
          </a:bodyPr>
          <a:lstStyle/>
          <a:p>
            <a:r>
              <a:rPr lang="ru-RU" dirty="0"/>
              <a:t>Преимущества: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Простота вычисления и интерпретации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Хорошо работает для нормально распределенных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Легкая имплементация в любом аналитическом инструменте</a:t>
            </a:r>
          </a:p>
          <a:p>
            <a:r>
              <a:rPr lang="ru-RU" dirty="0"/>
              <a:t>Ограничения: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Чувствительность к экстремальным значениям, которые искажают среднее и стандартное отклонение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Предполагает нормальное распределение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Неэффективен для мультимодальных распределений</a:t>
            </a:r>
          </a:p>
        </p:txBody>
      </p:sp>
    </p:spTree>
    <p:extLst>
      <p:ext uri="{BB962C8B-B14F-4D97-AF65-F5344CB8AC3E}">
        <p14:creationId xmlns:p14="http://schemas.microsoft.com/office/powerpoint/2010/main" val="2867750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EB224-FCD0-4062-9CAA-C954DEC3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методы для выявления и удаления выбросов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1C139-CC9E-485E-9393-F151467DF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044609"/>
            <a:ext cx="4772615" cy="4587083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Метод </a:t>
            </a:r>
            <a:r>
              <a:rPr lang="ru-RU" b="1" dirty="0" err="1"/>
              <a:t>межквартильного</a:t>
            </a:r>
            <a:r>
              <a:rPr lang="ru-RU" b="1" dirty="0"/>
              <a:t> размаха </a:t>
            </a:r>
            <a:r>
              <a:rPr lang="ru-RU" dirty="0"/>
              <a:t>— более устойчивый к выбросам подход, основанный на квартилях распределения. IQR определяется как разница между третьим (Q₃) и первым (Q₁) квартилями:</a:t>
            </a:r>
          </a:p>
          <a:p>
            <a:r>
              <a:rPr lang="en-US" dirty="0">
                <a:solidFill>
                  <a:srgbClr val="000000"/>
                </a:solidFill>
                <a:latin typeface="ui-monospace"/>
              </a:rPr>
              <a:t>IQR = Q₃ – Q₁</a:t>
            </a:r>
            <a:endParaRPr lang="ru-RU" dirty="0">
              <a:solidFill>
                <a:srgbClr val="000000"/>
              </a:solidFill>
              <a:latin typeface="ui-monospace"/>
            </a:endParaRPr>
          </a:p>
          <a:p>
            <a:r>
              <a:rPr lang="ru-RU" dirty="0"/>
              <a:t>Значение считается выбросом, если оно находится за пределами:</a:t>
            </a:r>
          </a:p>
          <a:p>
            <a:r>
              <a:rPr lang="en-US" b="1" dirty="0"/>
              <a:t>[Q₁ – k × IQR, Q₃ + k × IQR]</a:t>
            </a:r>
            <a:endParaRPr lang="ru-RU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 k — коэффициент, обычно равный 1.5 (для умеренных выбросов) или 3 (для экстремальных выбросов).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75B07A-F26D-4EFA-8D94-90451D516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676" y="2735502"/>
            <a:ext cx="6580232" cy="286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037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504E9-259B-4E1F-B08A-EAB147746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методы для выявления и удаления выбросов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85021C-D66F-4312-82ED-73DEBBB7B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ru-RU" b="1" dirty="0"/>
              <a:t>метода IQR</a:t>
            </a:r>
            <a:r>
              <a:rPr lang="ru-RU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Устойчивость к выбросам (робастность)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 зависит от предположений о распределении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Эффективен при асимметричных распределениях</a:t>
            </a:r>
          </a:p>
          <a:p>
            <a:r>
              <a:rPr lang="ru-RU" dirty="0"/>
              <a:t>Ограничения: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Может быть слишком консервативным для некоторых распределений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Менее чувствителен к тонким аномалиям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Требует достаточного количества данных для надежной оценки квартилей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0239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CCBD07-C5D0-4390-9A7A-C46B6B441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Алгоритмические методы для выявления и удаления выбросов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41071B-7164-4B8D-AD17-9962B924D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400" b="1" dirty="0"/>
              <a:t>Алгоритмические подходы </a:t>
            </a:r>
            <a:r>
              <a:rPr lang="ru-RU" sz="4400" dirty="0"/>
              <a:t>используют сложные математические модели и машинное обучение для выявления скрытых аномалий.</a:t>
            </a:r>
          </a:p>
        </p:txBody>
      </p:sp>
    </p:spTree>
    <p:extLst>
      <p:ext uri="{BB962C8B-B14F-4D97-AF65-F5344CB8AC3E}">
        <p14:creationId xmlns:p14="http://schemas.microsoft.com/office/powerpoint/2010/main" val="3719601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C496D-FFB0-4C40-B6D9-0D9A2DA3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Алгоритмические методы для выявления и удаления выбросов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70D54-0129-4D27-AE33-E8BF5E6ED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592282"/>
            <a:ext cx="10060474" cy="3766185"/>
          </a:xfrm>
        </p:spPr>
        <p:txBody>
          <a:bodyPr>
            <a:normAutofit/>
          </a:bodyPr>
          <a:lstStyle/>
          <a:p>
            <a:r>
              <a:rPr lang="ru-RU" dirty="0"/>
              <a:t>Ключевые характеристики изолирующего леса: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Работает с многомерными данными без предположений о их распределении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Обладает линейной вычислительной сложностью, что делает его пригодным для больших </a:t>
            </a:r>
            <a:r>
              <a:rPr lang="ru-RU" dirty="0" err="1"/>
              <a:t>датасетов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Возвращает оценку аномальности для каждого наблюдения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Эффективен даже при наличии зашумленных данных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972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C496D-FFB0-4C40-B6D9-0D9A2DA3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Алгоритмические методы для выявления и удаления выбросов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70D54-0129-4D27-AE33-E8BF5E6ED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3" y="2045616"/>
            <a:ext cx="4591839" cy="470397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Алгоритм строит множество деревьев решений (лес), где каждое дерево рекурсивно разделяет данные по случайно выбранным признакам и порогам. Аномалии требуют </a:t>
            </a:r>
            <a:r>
              <a:rPr lang="ru-RU" b="1" dirty="0"/>
              <a:t>меньшего количества разделений </a:t>
            </a:r>
            <a:r>
              <a:rPr lang="ru-RU" dirty="0"/>
              <a:t>для изоляции, чем нормальные наблюдения.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Строим дерево</a:t>
            </a:r>
            <a:r>
              <a:rPr lang="ru-RU" dirty="0"/>
              <a:t>, где каждый узел случайно выбирает один признак и случайное значение разбиения.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Рекурсивно делим данные</a:t>
            </a:r>
            <a:r>
              <a:rPr lang="ru-RU" dirty="0"/>
              <a:t>, пока каждая точка не окажется в своём отдельном листе.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Считаем аномальность</a:t>
            </a:r>
            <a:r>
              <a:rPr lang="ru-RU" dirty="0"/>
              <a:t> точки по тому, насколько быстро она была изолирована (чем короче путь, тем </a:t>
            </a:r>
            <a:r>
              <a:rPr lang="ru-RU" dirty="0" err="1"/>
              <a:t>аномальнее</a:t>
            </a:r>
            <a:r>
              <a:rPr lang="ru-RU" dirty="0"/>
              <a:t>).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97A20B-046C-4C21-98AE-A19326A8D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063" y="2157730"/>
            <a:ext cx="6308794" cy="334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9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7B242-4202-4212-8F8E-C5C33988A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2959929"/>
            <a:ext cx="10772775" cy="1658198"/>
          </a:xfrm>
        </p:spPr>
        <p:txBody>
          <a:bodyPr/>
          <a:lstStyle/>
          <a:p>
            <a:pPr algn="ctr"/>
            <a:r>
              <a:rPr lang="ru-RU" dirty="0"/>
              <a:t>Благодарю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65621964"/>
      </p:ext>
    </p:extLst>
  </p:cSld>
  <p:clrMapOvr>
    <a:masterClrMapping/>
  </p:clrMapOvr>
</p:sld>
</file>

<file path=ppt/theme/theme1.xml><?xml version="1.0" encoding="utf-8"?>
<a:theme xmlns:a="http://schemas.openxmlformats.org/drawingml/2006/main" name="Метрополия">
  <a:themeElements>
    <a:clrScheme name="Метрополия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Метрополи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Метрополи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Метрополия</Template>
  <TotalTime>183</TotalTime>
  <Words>807</Words>
  <Application>Microsoft Office PowerPoint</Application>
  <PresentationFormat>Широкоэкранный</PresentationFormat>
  <Paragraphs>77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 Light</vt:lpstr>
      <vt:lpstr>ui-monospace</vt:lpstr>
      <vt:lpstr>Метрополия</vt:lpstr>
      <vt:lpstr>Методы борьбы с выбросами</vt:lpstr>
      <vt:lpstr>Что такое выброс</vt:lpstr>
      <vt:lpstr>Как выбросы влияют на алгоритмы</vt:lpstr>
      <vt:lpstr>Какие виды выбросов бывают</vt:lpstr>
      <vt:lpstr>Какие виды выбросов бывают</vt:lpstr>
      <vt:lpstr>Визуальные методы для выявления и удаления выбросов</vt:lpstr>
      <vt:lpstr>Визуальные методы для выявления и удаления выбросов</vt:lpstr>
      <vt:lpstr>Визуальные методы для выявления и удаления выбросов</vt:lpstr>
      <vt:lpstr>Визуальные методы для выявления и удаления выбросов</vt:lpstr>
      <vt:lpstr>Статические методы для выявления и удаления выбросов</vt:lpstr>
      <vt:lpstr>Статические методы для выявления и удаления выбросов</vt:lpstr>
      <vt:lpstr>Статические методы для выявления и удаления выбросов</vt:lpstr>
      <vt:lpstr>Статические методы для выявления и удаления выбросов</vt:lpstr>
      <vt:lpstr>Статические методы для выявления и удаления выбросов</vt:lpstr>
      <vt:lpstr>Алгоритмические методы для выявления и удаления выбросов</vt:lpstr>
      <vt:lpstr>Алгоритмические методы для выявления и удаления выбросов</vt:lpstr>
      <vt:lpstr>Алгоритмические методы для выявления и удаления выбросов</vt:lpstr>
      <vt:lpstr>Благодарю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борьбы с выбросами</dc:title>
  <dc:creator>Сергей Юсько</dc:creator>
  <cp:lastModifiedBy>Сергей Юсько</cp:lastModifiedBy>
  <cp:revision>1</cp:revision>
  <dcterms:created xsi:type="dcterms:W3CDTF">2026-02-24T07:37:15Z</dcterms:created>
  <dcterms:modified xsi:type="dcterms:W3CDTF">2026-02-24T10:41:08Z</dcterms:modified>
</cp:coreProperties>
</file>